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93" r:id="rId2"/>
    <p:sldId id="3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28"/>
    <p:restoredTop sz="96327"/>
  </p:normalViewPr>
  <p:slideViewPr>
    <p:cSldViewPr snapToGrid="0">
      <p:cViewPr varScale="1">
        <p:scale>
          <a:sx n="128" d="100"/>
          <a:sy n="128" d="100"/>
        </p:scale>
        <p:origin x="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4BAA22-0A5D-694E-9931-1C3BEC080E51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6CD8C9-1D49-1646-BBE0-70EA00B3D1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08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A66F3-EF9C-7B6A-7D1C-D8A50A4180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0F575-0B6E-F2F0-B859-E93C6AEE0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031F6-5D2C-059F-CB32-C214A85C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524A7-A66A-4560-20E1-3D2081CC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73B17-BE31-CFBF-3BA8-E5E48029B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561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D5031-3E50-8EE1-26C4-29DFE7098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1E7BC-E3BB-9AA9-3AFA-5301D1535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7676B-F8FB-6A73-F64A-38286522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F3CAE-9D0E-144C-97CE-A6F0C17F6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2E1D6A-3F92-EF0F-DF74-175B6839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2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2560-117A-4127-BED1-E6B324DB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A95AF-8BA5-96F4-1F2E-4A0E6CBC5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04D90-6D3E-90CD-7F92-990184BD0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2C5C7-0515-D2B6-ECFC-138C140D8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57097-F61A-6EE9-AC28-EF0ADE47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75316-7CE1-E375-5427-ACD5CDC33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77377-F9BF-D0CD-73C1-2C2D30AA1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97BE9-46E5-8DAB-5E16-42925F264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88F35-4620-074A-2BCF-5525A317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49B67-AF16-4FBE-6FDE-CAF500D3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63601B-ECA3-E0EE-8BB8-ABB17874C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722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E268-C78C-8D06-951B-66CDA2C7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770984-ECED-17E2-E66D-8BAE772F1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A7435-E51C-97B2-7526-EF1068A68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E8FBF5-D3D7-BEF3-168B-FB6A5DFBB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171911-1C75-1C38-15FB-C0BBA5C9E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087F1F-17BF-7E87-7431-62D89096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3855D7-CA49-E0A0-3B97-CAFA4C333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6260D2-E415-90ED-6B59-97BD6B15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4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DCD60-6AF5-2C5C-33F3-F292D6E4D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B86C8-3687-DF74-E4A0-84D72E9BA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048AA-D8AC-F34E-AC2E-889FF527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01EC3-6277-1739-91C9-4518F3B25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8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C02FC7-E0E3-8660-69BD-93DBB2F6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F1C59-CEB4-EF66-616A-2DB07BD28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BA0D51-8D1B-C39E-5526-4C10E72B8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84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B1AF-DAEA-02C0-1B7B-B4F9B727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75DDC-3B18-69E5-4FC9-956858C1E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479F9-E944-FD3D-67F9-2129E7850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ACFBE8-331C-A8D6-1AB4-96E026D8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6F990C-035D-92C4-5D36-21DA39036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C2776A-A16C-02AB-99F5-A9755F759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52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E0737-4928-8E66-C062-F125F879B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71586A-AB20-1E2C-E51C-80CFCB4B64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E96832-E69C-4AA6-5431-04759C520F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22419B-1A01-1632-77B6-D537B78D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D6E4E9-BF69-1202-B13B-8AF9C7531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A755F3-7404-5390-C525-29A5F5A9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3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CD984-F19B-32E4-3D98-4C0DAB671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A33A0-B315-867F-6914-D114ED4726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21BE5-1F71-C5BE-22AB-1F1203616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17B68-84E9-BA3F-2014-3E3D3CB6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3C9CF-8617-5A9C-E078-C0F1BE981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97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A06318-A91A-A1E0-754A-063C10EDCE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9CEDA2-092A-78AE-9F36-11C2A9437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0D7F3-83C9-B89B-EC28-7C65D8AC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9EFFB-17E4-C712-95AE-318D708D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3920D-2BFD-8123-4FED-37E4789CD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95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Title with Formal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50FE744-3BC4-0C41-A71D-DB17FDE4A6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1024367"/>
            <a:ext cx="2448050" cy="388409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0" y="2348880"/>
            <a:ext cx="12192000" cy="450912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384" y="2348883"/>
            <a:ext cx="10363200" cy="1362075"/>
          </a:xfrm>
        </p:spPr>
        <p:txBody>
          <a:bodyPr anchor="b">
            <a:noAutofit/>
          </a:bodyPr>
          <a:lstStyle>
            <a:lvl1pPr algn="l">
              <a:lnSpc>
                <a:spcPts val="4800"/>
              </a:lnSpc>
              <a:defRPr sz="4800" b="0" cap="all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1384" y="3717032"/>
            <a:ext cx="10369152" cy="1008112"/>
          </a:xfrm>
        </p:spPr>
        <p:txBody>
          <a:bodyPr anchor="t">
            <a:normAutofit/>
          </a:bodyPr>
          <a:lstStyle>
            <a:lvl1pPr marL="0" indent="0">
              <a:buNone/>
              <a:defRPr sz="24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6ED6557-8EC6-45FC-B359-5D206E9600ED}" type="datetime1">
              <a:rPr lang="en-US" smtClean="0"/>
              <a:pPr/>
              <a:t>11/13/24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 dirty="0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57" y="5756569"/>
            <a:ext cx="2933251" cy="65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0748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Title Bar - Logo Bottom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0" y="838201"/>
            <a:ext cx="12192000" cy="533400"/>
          </a:xfrm>
          <a:prstGeom prst="rect">
            <a:avLst/>
          </a:prstGeom>
          <a:solidFill>
            <a:srgbClr val="3989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361" y="274638"/>
            <a:ext cx="9601067" cy="563564"/>
          </a:xfrm>
        </p:spPr>
        <p:txBody>
          <a:bodyPr anchor="ctr">
            <a:normAutofit/>
          </a:bodyPr>
          <a:lstStyle>
            <a:lvl1pPr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C8B1D39-4CFA-4E27-9537-9D120A8CD547}" type="datetime1">
              <a:rPr lang="en-US" smtClean="0"/>
              <a:pPr/>
              <a:t>11/13/24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CA"/>
              <a:t>This is the slide footer, which can be edited under Header &amp; Footer, along with slide numbers and date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B7CDB38-6350-4CC9-AB0E-B9078CE1CE4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361" y="836712"/>
            <a:ext cx="9601067" cy="533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4"/>
          </p:nvPr>
        </p:nvSpPr>
        <p:spPr>
          <a:xfrm>
            <a:off x="335360" y="1484784"/>
            <a:ext cx="11516853" cy="475252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43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9AADA6-9462-A243-0939-34535A55F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B7441-8DFF-47A0-18C1-67005A78A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84D74-4F96-22F4-F939-98E80891FD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FF83F-43DE-0B42-9EC9-862B6471EB3D}" type="datetimeFigureOut">
              <a:rPr lang="en-US" smtClean="0"/>
              <a:t>11/13/24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C7E70-A245-ED27-354C-F2A4D71C7B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14255B-0AB7-145A-28E7-DB9F5E98B3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60E92-010B-C44C-9F6F-C69D5E45A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10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ubtitle 19"/>
          <p:cNvSpPr>
            <a:spLocks noGrp="1"/>
          </p:cNvSpPr>
          <p:nvPr>
            <p:ph type="body" idx="1"/>
          </p:nvPr>
        </p:nvSpPr>
        <p:spPr/>
        <p:txBody>
          <a:bodyPr numCol="1">
            <a:normAutofit fontScale="85000" lnSpcReduction="20000"/>
          </a:bodyPr>
          <a:lstStyle/>
          <a:p>
            <a:r>
              <a:rPr lang="en-US" dirty="0"/>
              <a:t>Structuring and Visualizing Data for Analytics</a:t>
            </a:r>
          </a:p>
          <a:p>
            <a:r>
              <a:rPr lang="en-US" dirty="0"/>
              <a:t>RSM 8411</a:t>
            </a:r>
          </a:p>
          <a:p>
            <a:r>
              <a:rPr lang="en-US" dirty="0"/>
              <a:t>Instructor: Adam Saunders	</a:t>
            </a:r>
          </a:p>
        </p:txBody>
      </p:sp>
      <p:sp>
        <p:nvSpPr>
          <p:cNvPr id="6" name="Rectangle 5"/>
          <p:cNvSpPr/>
          <p:nvPr/>
        </p:nvSpPr>
        <p:spPr>
          <a:xfrm>
            <a:off x="551384" y="5949283"/>
            <a:ext cx="7992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November 13, 2024</a:t>
            </a:r>
          </a:p>
        </p:txBody>
      </p:sp>
    </p:spTree>
    <p:extLst>
      <p:ext uri="{BB962C8B-B14F-4D97-AF65-F5344CB8AC3E}">
        <p14:creationId xmlns:p14="http://schemas.microsoft.com/office/powerpoint/2010/main" val="222970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ubtitle 19"/>
          <p:cNvSpPr>
            <a:spLocks noGrp="1"/>
          </p:cNvSpPr>
          <p:nvPr>
            <p:ph type="subTitle" idx="1"/>
          </p:nvPr>
        </p:nvSpPr>
        <p:spPr/>
        <p:txBody>
          <a:bodyPr numCol="1">
            <a:normAutofit/>
          </a:bodyPr>
          <a:lstStyle/>
          <a:p>
            <a:r>
              <a:rPr lang="en-US" dirty="0"/>
              <a:t>Variables: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1F2686-FC49-F359-E658-CB7141A9C511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gvkey</a:t>
            </a:r>
            <a:endParaRPr lang="en-US" sz="2000" dirty="0"/>
          </a:p>
          <a:p>
            <a:r>
              <a:rPr lang="en-US" sz="2000" dirty="0" err="1"/>
              <a:t>datadate</a:t>
            </a:r>
            <a:r>
              <a:rPr lang="en-US" sz="2000" dirty="0"/>
              <a:t> (fiscal year end-date in 10-K filing)</a:t>
            </a:r>
          </a:p>
          <a:p>
            <a:r>
              <a:rPr lang="en-US" sz="2000" dirty="0" err="1"/>
              <a:t>fyear</a:t>
            </a:r>
            <a:r>
              <a:rPr lang="en-US" sz="2000" dirty="0"/>
              <a:t> (fiscal year covered by 10-K)</a:t>
            </a:r>
          </a:p>
          <a:p>
            <a:r>
              <a:rPr lang="en-US" sz="2000" dirty="0" err="1"/>
              <a:t>k_int_know</a:t>
            </a:r>
            <a:r>
              <a:rPr lang="en-US" sz="2000" dirty="0"/>
              <a:t>: Firms’ knowledge capital </a:t>
            </a:r>
            <a:r>
              <a:rPr lang="en-US" sz="2000" i="1" dirty="0"/>
              <a:t>replacement cost </a:t>
            </a:r>
            <a:r>
              <a:rPr lang="en-US" sz="2000" dirty="0"/>
              <a:t>(based on R&amp;D)</a:t>
            </a:r>
          </a:p>
          <a:p>
            <a:r>
              <a:rPr lang="en-US" sz="2000" dirty="0" err="1"/>
              <a:t>k_int_org</a:t>
            </a:r>
            <a:r>
              <a:rPr lang="en-US" sz="2000" dirty="0"/>
              <a:t>: Firms’ organizational capital </a:t>
            </a:r>
            <a:r>
              <a:rPr lang="en-US" sz="2000" i="1" dirty="0"/>
              <a:t>replacement</a:t>
            </a:r>
            <a:r>
              <a:rPr lang="en-US" sz="2000" dirty="0"/>
              <a:t> cost (based on SG&amp;A)</a:t>
            </a:r>
          </a:p>
          <a:p>
            <a:r>
              <a:rPr lang="en-US" sz="2000" dirty="0" err="1"/>
              <a:t>k_int_offbs</a:t>
            </a:r>
            <a:r>
              <a:rPr lang="en-US" sz="2000" dirty="0"/>
              <a:t>: Portion of </a:t>
            </a:r>
            <a:r>
              <a:rPr lang="en-US" sz="2000" dirty="0" err="1"/>
              <a:t>K_int</a:t>
            </a:r>
            <a:r>
              <a:rPr lang="en-US" sz="2000" dirty="0"/>
              <a:t> that doesn’t appear on firms balance sheet</a:t>
            </a:r>
          </a:p>
          <a:p>
            <a:r>
              <a:rPr lang="en-US" sz="2000" dirty="0" err="1"/>
              <a:t>k_int</a:t>
            </a:r>
            <a:r>
              <a:rPr lang="en-US" sz="2000" dirty="0"/>
              <a:t>: Firm’s intangible capital estimated replacement cost</a:t>
            </a:r>
          </a:p>
          <a:p>
            <a:r>
              <a:rPr lang="en-US" sz="2000" dirty="0" err="1"/>
              <a:t>q_tot</a:t>
            </a:r>
            <a:r>
              <a:rPr lang="en-US" sz="2000" dirty="0"/>
              <a:t>: Total Q</a:t>
            </a:r>
          </a:p>
          <a:p>
            <a:r>
              <a:rPr lang="en-US" sz="2000" i="1" dirty="0"/>
              <a:t>Note that regulated utilities, financial firms, public service firms may not be suitable for total Q.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71498C-3641-AE18-49DF-BBDE53F4CE72}"/>
              </a:ext>
            </a:extLst>
          </p:cNvPr>
          <p:cNvSpPr txBox="1"/>
          <p:nvPr/>
        </p:nvSpPr>
        <p:spPr>
          <a:xfrm>
            <a:off x="239486" y="239486"/>
            <a:ext cx="69176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Peters and Taylor Q – Measuring Intangible capital</a:t>
            </a:r>
          </a:p>
        </p:txBody>
      </p:sp>
    </p:spTree>
    <p:extLst>
      <p:ext uri="{BB962C8B-B14F-4D97-AF65-F5344CB8AC3E}">
        <p14:creationId xmlns:p14="http://schemas.microsoft.com/office/powerpoint/2010/main" val="1354092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137</Words>
  <Application>Microsoft Macintosh PowerPoint</Application>
  <PresentationFormat>Widescreen</PresentationFormat>
  <Paragraphs>17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Title</dc:title>
  <dc:creator>Rex Tianhao Yin</dc:creator>
  <cp:lastModifiedBy>Adam Saunders</cp:lastModifiedBy>
  <cp:revision>87</cp:revision>
  <dcterms:created xsi:type="dcterms:W3CDTF">2023-09-28T20:00:30Z</dcterms:created>
  <dcterms:modified xsi:type="dcterms:W3CDTF">2024-11-13T15:52:57Z</dcterms:modified>
</cp:coreProperties>
</file>